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71D72-353E-42D0-8DDD-C8CB5F73704B}" v="188" dt="2026-03-27T08:00:45.055"/>
    <p1510:client id="{B6C0EE41-777E-48D4-81ED-0BE01CC11C4B}" v="475" dt="2026-03-26T11:35:33.333"/>
    <p1510:client id="{DBA1A423-4710-4EBE-BE8E-390DA102A4B4}" v="1" dt="2026-03-25T10:55:22.601"/>
    <p1510:client id="{FC5D4218-BB50-485D-9AB0-0BB340C20C45}" v="553" dt="2026-03-26T20:51:18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F569-AC90-44EB-9EF4-4E5C2F5D823C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0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D79EF-17C8-45D8-9866-DAF5723FC604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6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C2ADC-3680-4013-A757-E4663495DB98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4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1BA94-5DCA-4F19-960F-0FB2BD5EE85A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65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ED947-38D9-44AC-8B89-E79758333B77}" type="datetime1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3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1E23F-BD3C-4F23-B116-2B758120C8AC}" type="datetime1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60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CFAA9-6D59-4D98-869E-ACBDB83B2CA4}" type="datetime1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8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10804-27E3-430A-BB42-B831260DE39A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69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2DE3-3D1A-4D53-B9A6-6C7463B8C992}" type="datetime1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59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A7D41-E8B7-4A0B-B861-3EC4AE88917D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96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34823-0B19-4B4E-A643-7A3B0A3D24D6}" type="datetime1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8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5ECD8B30-1B71-45A1-8314-D59C86F581E1}" type="datetime1">
              <a:rPr lang="en-US" smtClean="0"/>
              <a:pPr/>
              <a:t>3/27/2026</a:t>
            </a:fld>
            <a:endParaRPr lang="en-US" b="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Sample Footer Text</a:t>
            </a:r>
            <a:endParaRPr lang="en-US" b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59261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1F77B6A-7F53-4B28-B73D-C8CC899AB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515629F-0D83-4A44-A125-CD50FC66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013" y="1361348"/>
            <a:ext cx="4833902" cy="4258176"/>
            <a:chOff x="1674895" y="1345036"/>
            <a:chExt cx="5428610" cy="42109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A5080B-EAC4-4530-815C-DE8DACA09D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4667345-04B5-4757-9CE0-969DC1DE5E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3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6E412EF-CF39-4C25-85B0-DB30B1B0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58003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8DA6235-17F2-4C9E-88C6-C5D38D8D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76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55DEF71-1741-4489-8E77-46FC5BAA6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47B6D-A7CC-48EB-861F-917D0D61E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69494" y="1220741"/>
            <a:ext cx="4833901" cy="42581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689435" y="1379083"/>
            <a:ext cx="4203323" cy="2902798"/>
          </a:xfrm>
        </p:spPr>
        <p:txBody>
          <a:bodyPr>
            <a:normAutofit/>
          </a:bodyPr>
          <a:lstStyle/>
          <a:p>
            <a:r>
              <a:rPr lang="hu-HU"/>
              <a:t>Info Screen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89435" y="4373956"/>
            <a:ext cx="4203323" cy="9040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600">
                <a:solidFill>
                  <a:srgbClr val="CCCCCC"/>
                </a:solidFill>
                <a:highlight>
                  <a:srgbClr val="1F1F1F"/>
                </a:highlight>
                <a:latin typeface="Consolas"/>
              </a:rPr>
              <a:t>InfoScreen – Minden infó egy helyen, zseb nélkül!</a:t>
            </a:r>
            <a:endParaRPr lang="hu-HU" sz="1600">
              <a:ea typeface="Source Sans Pro"/>
            </a:endParaRPr>
          </a:p>
          <a:p>
            <a:endParaRPr lang="hu-HU" sz="1600">
              <a:ea typeface="Source Sans Pro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D8E00FA-5561-4253-B903-92B49719E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11971" y="858936"/>
            <a:ext cx="693403" cy="693403"/>
            <a:chOff x="5211971" y="858936"/>
            <a:chExt cx="693403" cy="693403"/>
          </a:xfrm>
        </p:grpSpPr>
        <p:sp>
          <p:nvSpPr>
            <p:cNvPr id="30" name="Graphic 212">
              <a:extLst>
                <a:ext uri="{FF2B5EF4-FFF2-40B4-BE49-F238E27FC236}">
                  <a16:creationId xmlns:a16="http://schemas.microsoft.com/office/drawing/2014/main" id="{A753B935-E3DD-466D-BFAC-68E0BE02D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Graphic 212">
              <a:extLst>
                <a:ext uri="{FF2B5EF4-FFF2-40B4-BE49-F238E27FC236}">
                  <a16:creationId xmlns:a16="http://schemas.microsoft.com/office/drawing/2014/main" id="{FB034F26-4148-4B59-B493-14D7A9A8B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11971" y="858936"/>
              <a:ext cx="693403" cy="693403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A7A0A46D-CC9B-4E32-870A-7BC2DF940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78722E-1BD0-427E-BAAE-4F206DAB5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7284" y="4357092"/>
            <a:ext cx="319941" cy="319941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Kép 9" descr="A képen Betűtípus, szöveg, Grafika, embléma látható&#10;&#10;Lehet, hogy az AI által létrehozott tartalom helytelen.">
            <a:extLst>
              <a:ext uri="{FF2B5EF4-FFF2-40B4-BE49-F238E27FC236}">
                <a16:creationId xmlns:a16="http://schemas.microsoft.com/office/drawing/2014/main" id="{F7A6EAAB-12E1-80C4-02D0-9B88C5EE1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719" y="2437487"/>
            <a:ext cx="4172845" cy="1824684"/>
          </a:xfrm>
          <a:prstGeom prst="rect">
            <a:avLst/>
          </a:prstGeom>
          <a:ln w="28575">
            <a:noFill/>
          </a:ln>
        </p:spPr>
      </p:pic>
      <p:grpSp>
        <p:nvGrpSpPr>
          <p:cNvPr id="37" name="Graphic 185">
            <a:extLst>
              <a:ext uri="{FF2B5EF4-FFF2-40B4-BE49-F238E27FC236}">
                <a16:creationId xmlns:a16="http://schemas.microsoft.com/office/drawing/2014/main" id="{5E6BB5FD-DB7B-4BE3-BA45-1EF042115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929FF76-4B3A-4294-BE6E-B507B22D1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53C18A4-10CC-4E91-A8A2-D5368972A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356AC2F-73E0-44FD-B346-A209D274D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5A85581-9712-414C-82D4-2FE96ACB2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B0828F2-35E7-4424-8082-6C258B676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E11F61-FC88-1D49-5F25-3900BD7BB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Source Sans Pro"/>
              </a:rPr>
              <a:t>Bevezető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1E979D5-4B18-C54C-1D1D-225F1CE8A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1825625"/>
            <a:ext cx="443992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2400">
                <a:solidFill>
                  <a:srgbClr val="CCCCCC"/>
                </a:solidFill>
                <a:latin typeface="Consolas"/>
              </a:rPr>
              <a:t>Az InfoScreen egy új generációs, webalapú információátadó rendszer.</a:t>
            </a:r>
            <a:endParaRPr lang="hu-HU" sz="2400">
              <a:solidFill>
                <a:srgbClr val="808080"/>
              </a:solidFill>
              <a:latin typeface="Consolas"/>
              <a:ea typeface="Source Sans Pro"/>
            </a:endParaRPr>
          </a:p>
          <a:p>
            <a:r>
              <a:rPr lang="hu-HU" sz="2400">
                <a:solidFill>
                  <a:srgbClr val="CCCCCC"/>
                </a:solidFill>
                <a:latin typeface="Consolas"/>
              </a:rPr>
              <a:t>Friss üzenetek, hírek, események, időjárás, órarend – bármi, amit szeretnél megjeleníteni.</a:t>
            </a:r>
            <a:endParaRPr lang="hu-HU" sz="2400" dirty="0">
              <a:ea typeface="Source Sans Pro"/>
            </a:endParaRPr>
          </a:p>
          <a:p>
            <a:endParaRPr lang="hu-HU" sz="2400" dirty="0">
              <a:ea typeface="Source Sans Pro"/>
            </a:endParaRP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B05479D0-8334-685E-A246-9E329B276916}"/>
              </a:ext>
            </a:extLst>
          </p:cNvPr>
          <p:cNvSpPr txBox="1">
            <a:spLocks/>
          </p:cNvSpPr>
          <p:nvPr/>
        </p:nvSpPr>
        <p:spPr>
          <a:xfrm>
            <a:off x="6913880" y="1825625"/>
            <a:ext cx="443992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sz="2400">
                <a:solidFill>
                  <a:srgbClr val="CCCCCC"/>
                </a:solidFill>
                <a:latin typeface="Consolas"/>
              </a:rPr>
              <a:t>Iskolába, céghez, boltba – bárhova tökéletes. Letisztult, könnyen használható és gyorsan felállítható rendszer, amivel az információátadás új szintre lép.</a:t>
            </a:r>
            <a:endParaRPr lang="hu-HU" sz="2400">
              <a:solidFill>
                <a:srgbClr val="808080"/>
              </a:solidFill>
              <a:latin typeface="Consolas"/>
              <a:ea typeface="Source Sans Pro"/>
            </a:endParaRPr>
          </a:p>
          <a:p>
            <a:endParaRPr lang="hu-HU" sz="2400" dirty="0">
              <a:solidFill>
                <a:srgbClr val="CCCCCC"/>
              </a:solidFill>
              <a:latin typeface="Consolas"/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31007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2C0948-2B9B-D756-290F-CB29D4AB9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3200" b="1">
                <a:solidFill>
                  <a:schemeClr val="tx2"/>
                </a:solidFill>
                <a:ea typeface="+mj-lt"/>
                <a:cs typeface="+mj-lt"/>
              </a:rPr>
              <a:t>Projekt felépítése</a:t>
            </a:r>
            <a:endParaRPr lang="hu-HU" sz="3200">
              <a:solidFill>
                <a:schemeClr val="tx2"/>
              </a:solidFill>
              <a:ea typeface="+mj-lt"/>
              <a:cs typeface="+mj-lt"/>
            </a:endParaRP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717D657-D188-4C59-8B43-26664DDA9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3451225"/>
            <a:ext cx="1625600" cy="6937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hu-HU">
                <a:ea typeface="Source Sans Pro"/>
              </a:rPr>
              <a:t>Felépítés</a:t>
            </a:r>
            <a:endParaRPr lang="hu-HU"/>
          </a:p>
        </p:txBody>
      </p:sp>
      <p:sp>
        <p:nvSpPr>
          <p:cNvPr id="4" name="Google Shape;158;p3">
            <a:extLst>
              <a:ext uri="{FF2B5EF4-FFF2-40B4-BE49-F238E27FC236}">
                <a16:creationId xmlns:a16="http://schemas.microsoft.com/office/drawing/2014/main" id="{0C15B10D-418F-3061-4885-67282C494DD5}"/>
              </a:ext>
            </a:extLst>
          </p:cNvPr>
          <p:cNvSpPr/>
          <p:nvPr/>
        </p:nvSpPr>
        <p:spPr>
          <a:xfrm>
            <a:off x="1670225" y="2872985"/>
            <a:ext cx="710100" cy="513900"/>
          </a:xfrm>
          <a:prstGeom prst="roundRect">
            <a:avLst>
              <a:gd name="adj" fmla="val 50000"/>
            </a:avLst>
          </a:prstGeom>
          <a:solidFill>
            <a:srgbClr val="FF8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oogle Shape;182;p3">
            <a:extLst>
              <a:ext uri="{FF2B5EF4-FFF2-40B4-BE49-F238E27FC236}">
                <a16:creationId xmlns:a16="http://schemas.microsoft.com/office/drawing/2014/main" id="{E69FB648-9FB1-014F-0427-35A53BE0352F}"/>
              </a:ext>
            </a:extLst>
          </p:cNvPr>
          <p:cNvGrpSpPr/>
          <p:nvPr/>
        </p:nvGrpSpPr>
        <p:grpSpPr>
          <a:xfrm>
            <a:off x="1879769" y="2956221"/>
            <a:ext cx="291920" cy="286112"/>
            <a:chOff x="1879769" y="2011341"/>
            <a:chExt cx="316650" cy="310350"/>
          </a:xfrm>
        </p:grpSpPr>
        <p:sp>
          <p:nvSpPr>
            <p:cNvPr id="6" name="Google Shape;183;p3">
              <a:extLst>
                <a:ext uri="{FF2B5EF4-FFF2-40B4-BE49-F238E27FC236}">
                  <a16:creationId xmlns:a16="http://schemas.microsoft.com/office/drawing/2014/main" id="{5E1C8BDD-DFE6-C034-3864-6458616FE4A7}"/>
                </a:ext>
              </a:extLst>
            </p:cNvPr>
            <p:cNvSpPr/>
            <p:nvPr/>
          </p:nvSpPr>
          <p:spPr>
            <a:xfrm>
              <a:off x="1879769" y="2011341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bg1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84;p3">
              <a:extLst>
                <a:ext uri="{FF2B5EF4-FFF2-40B4-BE49-F238E27FC236}">
                  <a16:creationId xmlns:a16="http://schemas.microsoft.com/office/drawing/2014/main" id="{05D83839-1396-3EF7-F10F-B2DAD532E078}"/>
                </a:ext>
              </a:extLst>
            </p:cNvPr>
            <p:cNvSpPr/>
            <p:nvPr/>
          </p:nvSpPr>
          <p:spPr>
            <a:xfrm>
              <a:off x="2126294" y="2190916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bg1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85;p3">
              <a:extLst>
                <a:ext uri="{FF2B5EF4-FFF2-40B4-BE49-F238E27FC236}">
                  <a16:creationId xmlns:a16="http://schemas.microsoft.com/office/drawing/2014/main" id="{A41DFE67-D67A-CFD2-8A45-51A676534EB8}"/>
                </a:ext>
              </a:extLst>
            </p:cNvPr>
            <p:cNvSpPr/>
            <p:nvPr/>
          </p:nvSpPr>
          <p:spPr>
            <a:xfrm>
              <a:off x="2127869" y="2012141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chemeClr val="bg1">
                <a:lumMod val="1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" name="Tartalom helye 2">
            <a:extLst>
              <a:ext uri="{FF2B5EF4-FFF2-40B4-BE49-F238E27FC236}">
                <a16:creationId xmlns:a16="http://schemas.microsoft.com/office/drawing/2014/main" id="{69F05F66-FE69-239B-52AC-D295BB5E3A54}"/>
              </a:ext>
            </a:extLst>
          </p:cNvPr>
          <p:cNvSpPr txBox="1">
            <a:spLocks/>
          </p:cNvSpPr>
          <p:nvPr/>
        </p:nvSpPr>
        <p:spPr>
          <a:xfrm>
            <a:off x="665480" y="4121785"/>
            <a:ext cx="2722880" cy="1039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400">
                <a:ea typeface="Source Sans Pro"/>
              </a:rPr>
              <a:t>Megjelenítési réteg:</a:t>
            </a:r>
          </a:p>
          <a:p>
            <a:pPr marL="0" indent="0" algn="ctr">
              <a:buNone/>
            </a:pPr>
            <a:r>
              <a:rPr lang="hu-HU" sz="2000">
                <a:ea typeface="Source Sans Pro"/>
              </a:rPr>
              <a:t>HTML/CSS/BOOTSTRAP</a:t>
            </a:r>
          </a:p>
        </p:txBody>
      </p:sp>
      <p:sp>
        <p:nvSpPr>
          <p:cNvPr id="12" name="Tartalom helye 2">
            <a:extLst>
              <a:ext uri="{FF2B5EF4-FFF2-40B4-BE49-F238E27FC236}">
                <a16:creationId xmlns:a16="http://schemas.microsoft.com/office/drawing/2014/main" id="{D0095333-A31B-19D5-54A9-96AF421A8311}"/>
              </a:ext>
            </a:extLst>
          </p:cNvPr>
          <p:cNvSpPr txBox="1">
            <a:spLocks/>
          </p:cNvSpPr>
          <p:nvPr/>
        </p:nvSpPr>
        <p:spPr>
          <a:xfrm>
            <a:off x="5461000" y="3430905"/>
            <a:ext cx="1625600" cy="693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>
                <a:ea typeface="Source Sans Pro"/>
              </a:rPr>
              <a:t>Célok</a:t>
            </a:r>
            <a:endParaRPr lang="hu-HU"/>
          </a:p>
        </p:txBody>
      </p:sp>
      <p:sp>
        <p:nvSpPr>
          <p:cNvPr id="13" name="Google Shape;158;p3">
            <a:extLst>
              <a:ext uri="{FF2B5EF4-FFF2-40B4-BE49-F238E27FC236}">
                <a16:creationId xmlns:a16="http://schemas.microsoft.com/office/drawing/2014/main" id="{99033D48-5B63-0715-138A-A821750D04EC}"/>
              </a:ext>
            </a:extLst>
          </p:cNvPr>
          <p:cNvSpPr/>
          <p:nvPr/>
        </p:nvSpPr>
        <p:spPr>
          <a:xfrm>
            <a:off x="5917104" y="2872984"/>
            <a:ext cx="710100" cy="513900"/>
          </a:xfrm>
          <a:prstGeom prst="roundRect">
            <a:avLst>
              <a:gd name="adj" fmla="val 50000"/>
            </a:avLst>
          </a:prstGeom>
          <a:solidFill>
            <a:srgbClr val="FF8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artalom helye 2">
            <a:extLst>
              <a:ext uri="{FF2B5EF4-FFF2-40B4-BE49-F238E27FC236}">
                <a16:creationId xmlns:a16="http://schemas.microsoft.com/office/drawing/2014/main" id="{C689BE46-61DE-DB58-2810-D859FC3062E1}"/>
              </a:ext>
            </a:extLst>
          </p:cNvPr>
          <p:cNvSpPr txBox="1">
            <a:spLocks/>
          </p:cNvSpPr>
          <p:nvPr/>
        </p:nvSpPr>
        <p:spPr>
          <a:xfrm>
            <a:off x="4922520" y="4121784"/>
            <a:ext cx="2722880" cy="1039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400">
                <a:ea typeface="Source Sans Pro"/>
              </a:rPr>
              <a:t>Reszponzivítás</a:t>
            </a:r>
          </a:p>
          <a:p>
            <a:pPr marL="0" indent="0" algn="ctr">
              <a:buNone/>
            </a:pPr>
            <a:r>
              <a:rPr lang="hu-HU" sz="2400">
                <a:ea typeface="Source Sans Pro"/>
              </a:rPr>
              <a:t>Eladóképeség</a:t>
            </a:r>
          </a:p>
        </p:txBody>
      </p:sp>
      <p:sp>
        <p:nvSpPr>
          <p:cNvPr id="19" name="Google Shape;166;p3">
            <a:extLst>
              <a:ext uri="{FF2B5EF4-FFF2-40B4-BE49-F238E27FC236}">
                <a16:creationId xmlns:a16="http://schemas.microsoft.com/office/drawing/2014/main" id="{B22E2B79-6A08-155A-A00D-CD68A3425BE1}"/>
              </a:ext>
            </a:extLst>
          </p:cNvPr>
          <p:cNvSpPr/>
          <p:nvPr/>
        </p:nvSpPr>
        <p:spPr>
          <a:xfrm>
            <a:off x="6087492" y="2960138"/>
            <a:ext cx="382768" cy="298991"/>
          </a:xfrm>
          <a:custGeom>
            <a:avLst/>
            <a:gdLst/>
            <a:ahLst/>
            <a:cxnLst/>
            <a:rect l="l" t="t" r="r" b="b"/>
            <a:pathLst>
              <a:path w="12665" h="9893" extrusionOk="0">
                <a:moveTo>
                  <a:pt x="8538" y="2458"/>
                </a:moveTo>
                <a:cubicBezTo>
                  <a:pt x="8758" y="2458"/>
                  <a:pt x="8916" y="2678"/>
                  <a:pt x="8916" y="2899"/>
                </a:cubicBezTo>
                <a:lnTo>
                  <a:pt x="8916" y="4569"/>
                </a:lnTo>
                <a:cubicBezTo>
                  <a:pt x="8916" y="4789"/>
                  <a:pt x="8727" y="4978"/>
                  <a:pt x="8538" y="4978"/>
                </a:cubicBezTo>
                <a:cubicBezTo>
                  <a:pt x="8349" y="4978"/>
                  <a:pt x="8128" y="4789"/>
                  <a:pt x="8128" y="4569"/>
                </a:cubicBezTo>
                <a:lnTo>
                  <a:pt x="8128" y="3875"/>
                </a:lnTo>
                <a:lnTo>
                  <a:pt x="6364" y="5671"/>
                </a:lnTo>
                <a:cubicBezTo>
                  <a:pt x="6285" y="5750"/>
                  <a:pt x="6175" y="5789"/>
                  <a:pt x="6065" y="5789"/>
                </a:cubicBezTo>
                <a:cubicBezTo>
                  <a:pt x="5954" y="5789"/>
                  <a:pt x="5844" y="5750"/>
                  <a:pt x="5765" y="5671"/>
                </a:cubicBezTo>
                <a:lnTo>
                  <a:pt x="5230" y="5104"/>
                </a:lnTo>
                <a:lnTo>
                  <a:pt x="3844" y="6490"/>
                </a:lnTo>
                <a:cubicBezTo>
                  <a:pt x="3765" y="6569"/>
                  <a:pt x="3655" y="6608"/>
                  <a:pt x="3544" y="6608"/>
                </a:cubicBezTo>
                <a:cubicBezTo>
                  <a:pt x="3434" y="6608"/>
                  <a:pt x="3324" y="6569"/>
                  <a:pt x="3245" y="6490"/>
                </a:cubicBezTo>
                <a:cubicBezTo>
                  <a:pt x="3087" y="6333"/>
                  <a:pt x="3087" y="6049"/>
                  <a:pt x="3245" y="5892"/>
                </a:cubicBezTo>
                <a:lnTo>
                  <a:pt x="4915" y="4254"/>
                </a:lnTo>
                <a:cubicBezTo>
                  <a:pt x="4994" y="4175"/>
                  <a:pt x="5104" y="4135"/>
                  <a:pt x="5214" y="4135"/>
                </a:cubicBezTo>
                <a:cubicBezTo>
                  <a:pt x="5324" y="4135"/>
                  <a:pt x="5435" y="4175"/>
                  <a:pt x="5513" y="4254"/>
                </a:cubicBezTo>
                <a:lnTo>
                  <a:pt x="6049" y="4789"/>
                </a:lnTo>
                <a:lnTo>
                  <a:pt x="7561" y="3308"/>
                </a:lnTo>
                <a:lnTo>
                  <a:pt x="6868" y="3308"/>
                </a:lnTo>
                <a:cubicBezTo>
                  <a:pt x="6648" y="3308"/>
                  <a:pt x="6490" y="3088"/>
                  <a:pt x="6490" y="2899"/>
                </a:cubicBezTo>
                <a:cubicBezTo>
                  <a:pt x="6490" y="2678"/>
                  <a:pt x="6679" y="2458"/>
                  <a:pt x="6868" y="2458"/>
                </a:cubicBezTo>
                <a:close/>
                <a:moveTo>
                  <a:pt x="11814" y="8255"/>
                </a:moveTo>
                <a:cubicBezTo>
                  <a:pt x="11814" y="8538"/>
                  <a:pt x="11877" y="9105"/>
                  <a:pt x="11405" y="9105"/>
                </a:cubicBezTo>
                <a:lnTo>
                  <a:pt x="1197" y="9105"/>
                </a:lnTo>
                <a:cubicBezTo>
                  <a:pt x="977" y="9105"/>
                  <a:pt x="788" y="8885"/>
                  <a:pt x="788" y="8664"/>
                </a:cubicBezTo>
                <a:lnTo>
                  <a:pt x="788" y="8255"/>
                </a:lnTo>
                <a:close/>
                <a:moveTo>
                  <a:pt x="2048" y="0"/>
                </a:moveTo>
                <a:cubicBezTo>
                  <a:pt x="1355" y="0"/>
                  <a:pt x="819" y="536"/>
                  <a:pt x="819" y="1229"/>
                </a:cubicBezTo>
                <a:lnTo>
                  <a:pt x="819" y="7435"/>
                </a:lnTo>
                <a:lnTo>
                  <a:pt x="410" y="7435"/>
                </a:lnTo>
                <a:cubicBezTo>
                  <a:pt x="189" y="7435"/>
                  <a:pt x="0" y="7625"/>
                  <a:pt x="0" y="7845"/>
                </a:cubicBezTo>
                <a:lnTo>
                  <a:pt x="0" y="8664"/>
                </a:lnTo>
                <a:cubicBezTo>
                  <a:pt x="0" y="9326"/>
                  <a:pt x="536" y="9893"/>
                  <a:pt x="1260" y="9893"/>
                </a:cubicBezTo>
                <a:lnTo>
                  <a:pt x="11436" y="9893"/>
                </a:lnTo>
                <a:cubicBezTo>
                  <a:pt x="12129" y="9893"/>
                  <a:pt x="12665" y="9326"/>
                  <a:pt x="12665" y="8664"/>
                </a:cubicBezTo>
                <a:lnTo>
                  <a:pt x="12665" y="7845"/>
                </a:lnTo>
                <a:cubicBezTo>
                  <a:pt x="12634" y="7593"/>
                  <a:pt x="12444" y="7435"/>
                  <a:pt x="12224" y="7435"/>
                </a:cubicBezTo>
                <a:lnTo>
                  <a:pt x="11814" y="7435"/>
                </a:lnTo>
                <a:lnTo>
                  <a:pt x="11814" y="1229"/>
                </a:lnTo>
                <a:cubicBezTo>
                  <a:pt x="11814" y="536"/>
                  <a:pt x="11247" y="0"/>
                  <a:pt x="10586" y="0"/>
                </a:cubicBez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Tartalom helye 2">
            <a:extLst>
              <a:ext uri="{FF2B5EF4-FFF2-40B4-BE49-F238E27FC236}">
                <a16:creationId xmlns:a16="http://schemas.microsoft.com/office/drawing/2014/main" id="{93147033-2285-05A5-6B52-B1F51373E881}"/>
              </a:ext>
            </a:extLst>
          </p:cNvPr>
          <p:cNvSpPr txBox="1">
            <a:spLocks/>
          </p:cNvSpPr>
          <p:nvPr/>
        </p:nvSpPr>
        <p:spPr>
          <a:xfrm>
            <a:off x="9535159" y="3451225"/>
            <a:ext cx="1757680" cy="663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hu-HU">
                <a:ea typeface="Source Sans Pro"/>
              </a:rPr>
              <a:t>Biztonság</a:t>
            </a:r>
            <a:endParaRPr lang="hu-HU"/>
          </a:p>
        </p:txBody>
      </p:sp>
      <p:sp>
        <p:nvSpPr>
          <p:cNvPr id="37" name="Tartalom helye 2">
            <a:extLst>
              <a:ext uri="{FF2B5EF4-FFF2-40B4-BE49-F238E27FC236}">
                <a16:creationId xmlns:a16="http://schemas.microsoft.com/office/drawing/2014/main" id="{0F2A6435-B2FC-8C00-1D5C-4756588185D7}"/>
              </a:ext>
            </a:extLst>
          </p:cNvPr>
          <p:cNvSpPr txBox="1">
            <a:spLocks/>
          </p:cNvSpPr>
          <p:nvPr/>
        </p:nvSpPr>
        <p:spPr>
          <a:xfrm>
            <a:off x="9057639" y="4111623"/>
            <a:ext cx="2722880" cy="10391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u-HU" sz="2400">
                <a:ea typeface="Source Sans Pro"/>
              </a:rPr>
              <a:t>Jelszavak titkosítása</a:t>
            </a:r>
            <a:endParaRPr lang="hu-HU"/>
          </a:p>
        </p:txBody>
      </p:sp>
      <p:sp>
        <p:nvSpPr>
          <p:cNvPr id="38" name="Google Shape;156;p3">
            <a:extLst>
              <a:ext uri="{FF2B5EF4-FFF2-40B4-BE49-F238E27FC236}">
                <a16:creationId xmlns:a16="http://schemas.microsoft.com/office/drawing/2014/main" id="{455A33ED-2107-2E4A-12B9-1DAA424F01B8}"/>
              </a:ext>
            </a:extLst>
          </p:cNvPr>
          <p:cNvSpPr/>
          <p:nvPr/>
        </p:nvSpPr>
        <p:spPr>
          <a:xfrm>
            <a:off x="10045353" y="2872985"/>
            <a:ext cx="710100" cy="513900"/>
          </a:xfrm>
          <a:prstGeom prst="roundRect">
            <a:avLst>
              <a:gd name="adj" fmla="val 50000"/>
            </a:avLst>
          </a:prstGeom>
          <a:solidFill>
            <a:srgbClr val="FF8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" name="Google Shape;167;p3">
            <a:extLst>
              <a:ext uri="{FF2B5EF4-FFF2-40B4-BE49-F238E27FC236}">
                <a16:creationId xmlns:a16="http://schemas.microsoft.com/office/drawing/2014/main" id="{0221C003-0C0C-4391-3DF7-EF925FB6749F}"/>
              </a:ext>
            </a:extLst>
          </p:cNvPr>
          <p:cNvGrpSpPr/>
          <p:nvPr/>
        </p:nvGrpSpPr>
        <p:grpSpPr>
          <a:xfrm>
            <a:off x="10227394" y="2956186"/>
            <a:ext cx="382765" cy="367809"/>
            <a:chOff x="6935554" y="1970672"/>
            <a:chExt cx="330825" cy="317900"/>
          </a:xfrm>
        </p:grpSpPr>
        <p:sp>
          <p:nvSpPr>
            <p:cNvPr id="40" name="Google Shape;168;p3">
              <a:extLst>
                <a:ext uri="{FF2B5EF4-FFF2-40B4-BE49-F238E27FC236}">
                  <a16:creationId xmlns:a16="http://schemas.microsoft.com/office/drawing/2014/main" id="{F9668564-9F81-C5D2-1BFC-E2F7269A3C59}"/>
                </a:ext>
              </a:extLst>
            </p:cNvPr>
            <p:cNvSpPr/>
            <p:nvPr/>
          </p:nvSpPr>
          <p:spPr>
            <a:xfrm>
              <a:off x="6935554" y="1970672"/>
              <a:ext cx="313500" cy="195825"/>
            </a:xfrm>
            <a:custGeom>
              <a:avLst/>
              <a:gdLst/>
              <a:ahLst/>
              <a:cxnLst/>
              <a:rect l="l" t="t" r="r" b="b"/>
              <a:pathLst>
                <a:path w="12540" h="7833" extrusionOk="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169;p3">
              <a:extLst>
                <a:ext uri="{FF2B5EF4-FFF2-40B4-BE49-F238E27FC236}">
                  <a16:creationId xmlns:a16="http://schemas.microsoft.com/office/drawing/2014/main" id="{3ADB7EFD-F3B0-45A7-70A0-DB00B93E62BA}"/>
                </a:ext>
              </a:extLst>
            </p:cNvPr>
            <p:cNvSpPr/>
            <p:nvPr/>
          </p:nvSpPr>
          <p:spPr>
            <a:xfrm>
              <a:off x="6951329" y="2092322"/>
              <a:ext cx="315050" cy="196250"/>
            </a:xfrm>
            <a:custGeom>
              <a:avLst/>
              <a:gdLst/>
              <a:ahLst/>
              <a:cxnLst/>
              <a:rect l="l" t="t" r="r" b="b"/>
              <a:pathLst>
                <a:path w="12602" h="7850" extrusionOk="0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70;p3">
              <a:extLst>
                <a:ext uri="{FF2B5EF4-FFF2-40B4-BE49-F238E27FC236}">
                  <a16:creationId xmlns:a16="http://schemas.microsoft.com/office/drawing/2014/main" id="{E50A6063-3FB0-329B-3E3C-B23B28FC624F}"/>
                </a:ext>
              </a:extLst>
            </p:cNvPr>
            <p:cNvSpPr/>
            <p:nvPr/>
          </p:nvSpPr>
          <p:spPr>
            <a:xfrm>
              <a:off x="7074979" y="2057772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71;p3">
              <a:extLst>
                <a:ext uri="{FF2B5EF4-FFF2-40B4-BE49-F238E27FC236}">
                  <a16:creationId xmlns:a16="http://schemas.microsoft.com/office/drawing/2014/main" id="{CACECBC7-F615-911B-69C8-472EB1E9905D}"/>
                </a:ext>
              </a:extLst>
            </p:cNvPr>
            <p:cNvSpPr/>
            <p:nvPr/>
          </p:nvSpPr>
          <p:spPr>
            <a:xfrm>
              <a:off x="7111204" y="2173547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72;p3">
              <a:extLst>
                <a:ext uri="{FF2B5EF4-FFF2-40B4-BE49-F238E27FC236}">
                  <a16:creationId xmlns:a16="http://schemas.microsoft.com/office/drawing/2014/main" id="{0841842C-971E-CB95-0128-79F3C813A74F}"/>
                </a:ext>
              </a:extLst>
            </p:cNvPr>
            <p:cNvSpPr/>
            <p:nvPr/>
          </p:nvSpPr>
          <p:spPr>
            <a:xfrm>
              <a:off x="7074979" y="2173547"/>
              <a:ext cx="15775" cy="26025"/>
            </a:xfrm>
            <a:custGeom>
              <a:avLst/>
              <a:gdLst/>
              <a:ahLst/>
              <a:cxnLst/>
              <a:rect l="l" t="t" r="r" b="b"/>
              <a:pathLst>
                <a:path w="631" h="1041" extrusionOk="0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73;p3">
              <a:extLst>
                <a:ext uri="{FF2B5EF4-FFF2-40B4-BE49-F238E27FC236}">
                  <a16:creationId xmlns:a16="http://schemas.microsoft.com/office/drawing/2014/main" id="{48EF7871-F1AA-6DAA-C405-21021A511373}"/>
                </a:ext>
              </a:extLst>
            </p:cNvPr>
            <p:cNvSpPr/>
            <p:nvPr/>
          </p:nvSpPr>
          <p:spPr>
            <a:xfrm>
              <a:off x="7004079" y="2104247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74;p3">
              <a:extLst>
                <a:ext uri="{FF2B5EF4-FFF2-40B4-BE49-F238E27FC236}">
                  <a16:creationId xmlns:a16="http://schemas.microsoft.com/office/drawing/2014/main" id="{9A45043D-3E3B-5E31-5ED0-55554B58ACC1}"/>
                </a:ext>
              </a:extLst>
            </p:cNvPr>
            <p:cNvSpPr/>
            <p:nvPr/>
          </p:nvSpPr>
          <p:spPr>
            <a:xfrm>
              <a:off x="7111204" y="2056997"/>
              <a:ext cx="15775" cy="26800"/>
            </a:xfrm>
            <a:custGeom>
              <a:avLst/>
              <a:gdLst/>
              <a:ahLst/>
              <a:cxnLst/>
              <a:rect l="l" t="t" r="r" b="b"/>
              <a:pathLst>
                <a:path w="631" h="1072" extrusionOk="0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175;p3">
              <a:extLst>
                <a:ext uri="{FF2B5EF4-FFF2-40B4-BE49-F238E27FC236}">
                  <a16:creationId xmlns:a16="http://schemas.microsoft.com/office/drawing/2014/main" id="{C316C84D-3910-6460-70B0-B7639BF9662B}"/>
                </a:ext>
              </a:extLst>
            </p:cNvPr>
            <p:cNvSpPr/>
            <p:nvPr/>
          </p:nvSpPr>
          <p:spPr>
            <a:xfrm>
              <a:off x="7067879" y="2104247"/>
              <a:ext cx="22875" cy="48075"/>
            </a:xfrm>
            <a:custGeom>
              <a:avLst/>
              <a:gdLst/>
              <a:ahLst/>
              <a:cxnLst/>
              <a:rect l="l" t="t" r="r" b="b"/>
              <a:pathLst>
                <a:path w="915" h="1923" extrusionOk="0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176;p3">
              <a:extLst>
                <a:ext uri="{FF2B5EF4-FFF2-40B4-BE49-F238E27FC236}">
                  <a16:creationId xmlns:a16="http://schemas.microsoft.com/office/drawing/2014/main" id="{AD1AAC3A-3656-423E-7A95-FC35A74EE595}"/>
                </a:ext>
              </a:extLst>
            </p:cNvPr>
            <p:cNvSpPr/>
            <p:nvPr/>
          </p:nvSpPr>
          <p:spPr>
            <a:xfrm>
              <a:off x="7111204" y="2032572"/>
              <a:ext cx="74850" cy="51225"/>
            </a:xfrm>
            <a:custGeom>
              <a:avLst/>
              <a:gdLst/>
              <a:ahLst/>
              <a:cxnLst/>
              <a:rect l="l" t="t" r="r" b="b"/>
              <a:pathLst>
                <a:path w="2994" h="2049" extrusionOk="0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77;p3">
              <a:extLst>
                <a:ext uri="{FF2B5EF4-FFF2-40B4-BE49-F238E27FC236}">
                  <a16:creationId xmlns:a16="http://schemas.microsoft.com/office/drawing/2014/main" id="{9BD4A54E-A092-EA97-D077-A6A4003E1533}"/>
                </a:ext>
              </a:extLst>
            </p:cNvPr>
            <p:cNvSpPr/>
            <p:nvPr/>
          </p:nvSpPr>
          <p:spPr>
            <a:xfrm>
              <a:off x="7110429" y="2173547"/>
              <a:ext cx="75625" cy="51225"/>
            </a:xfrm>
            <a:custGeom>
              <a:avLst/>
              <a:gdLst/>
              <a:ahLst/>
              <a:cxnLst/>
              <a:rect l="l" t="t" r="r" b="b"/>
              <a:pathLst>
                <a:path w="3025" h="2049" extrusionOk="0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78;p3">
              <a:extLst>
                <a:ext uri="{FF2B5EF4-FFF2-40B4-BE49-F238E27FC236}">
                  <a16:creationId xmlns:a16="http://schemas.microsoft.com/office/drawing/2014/main" id="{9CF9CB8A-7B26-1D06-8080-810C2110DBB0}"/>
                </a:ext>
              </a:extLst>
            </p:cNvPr>
            <p:cNvSpPr/>
            <p:nvPr/>
          </p:nvSpPr>
          <p:spPr>
            <a:xfrm>
              <a:off x="7015104" y="2172772"/>
              <a:ext cx="75650" cy="52000"/>
            </a:xfrm>
            <a:custGeom>
              <a:avLst/>
              <a:gdLst/>
              <a:ahLst/>
              <a:cxnLst/>
              <a:rect l="l" t="t" r="r" b="b"/>
              <a:pathLst>
                <a:path w="3026" h="2080" extrusionOk="0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179;p3">
              <a:extLst>
                <a:ext uri="{FF2B5EF4-FFF2-40B4-BE49-F238E27FC236}">
                  <a16:creationId xmlns:a16="http://schemas.microsoft.com/office/drawing/2014/main" id="{DF5B071F-F126-C8E7-44B1-98917E815353}"/>
                </a:ext>
              </a:extLst>
            </p:cNvPr>
            <p:cNvSpPr/>
            <p:nvPr/>
          </p:nvSpPr>
          <p:spPr>
            <a:xfrm>
              <a:off x="7152954" y="2104247"/>
              <a:ext cx="44125" cy="48075"/>
            </a:xfrm>
            <a:custGeom>
              <a:avLst/>
              <a:gdLst/>
              <a:ahLst/>
              <a:cxnLst/>
              <a:rect l="l" t="t" r="r" b="b"/>
              <a:pathLst>
                <a:path w="1765" h="1923" extrusionOk="0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80;p3">
              <a:extLst>
                <a:ext uri="{FF2B5EF4-FFF2-40B4-BE49-F238E27FC236}">
                  <a16:creationId xmlns:a16="http://schemas.microsoft.com/office/drawing/2014/main" id="{F45BF70B-1B74-F5BF-CA0C-EB7D1CA45731}"/>
                </a:ext>
              </a:extLst>
            </p:cNvPr>
            <p:cNvSpPr/>
            <p:nvPr/>
          </p:nvSpPr>
          <p:spPr>
            <a:xfrm>
              <a:off x="7015904" y="2033372"/>
              <a:ext cx="75625" cy="51200"/>
            </a:xfrm>
            <a:custGeom>
              <a:avLst/>
              <a:gdLst/>
              <a:ahLst/>
              <a:cxnLst/>
              <a:rect l="l" t="t" r="r" b="b"/>
              <a:pathLst>
                <a:path w="3025" h="2048" extrusionOk="0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81;p3">
              <a:extLst>
                <a:ext uri="{FF2B5EF4-FFF2-40B4-BE49-F238E27FC236}">
                  <a16:creationId xmlns:a16="http://schemas.microsoft.com/office/drawing/2014/main" id="{C5514813-49FB-7CBD-9396-68A2D2114CB1}"/>
                </a:ext>
              </a:extLst>
            </p:cNvPr>
            <p:cNvSpPr/>
            <p:nvPr/>
          </p:nvSpPr>
          <p:spPr>
            <a:xfrm>
              <a:off x="7111204" y="2104247"/>
              <a:ext cx="22850" cy="48075"/>
            </a:xfrm>
            <a:custGeom>
              <a:avLst/>
              <a:gdLst/>
              <a:ahLst/>
              <a:cxnLst/>
              <a:rect l="l" t="t" r="r" b="b"/>
              <a:pathLst>
                <a:path w="914" h="1923" extrusionOk="0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409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0F6272-CDEB-CF5B-C6E0-4EB9BBFF0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Source Sans Pro"/>
              </a:rPr>
              <a:t>Felépítése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1E26C9-E958-D438-AE57-A97D35505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360" y="1815465"/>
            <a:ext cx="38608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Source Sans Pro"/>
              </a:rPr>
              <a:t>A frontendet, Html, react, css és boostrap kezeli</a:t>
            </a:r>
          </a:p>
          <a:p>
            <a:r>
              <a:rPr lang="hu-HU">
                <a:ea typeface="Source Sans Pro"/>
              </a:rPr>
              <a:t>A backendet, Mysql és JavaScript kezeli</a:t>
            </a:r>
          </a:p>
        </p:txBody>
      </p:sp>
      <p:sp>
        <p:nvSpPr>
          <p:cNvPr id="4" name="Google Shape;191;p4">
            <a:extLst>
              <a:ext uri="{FF2B5EF4-FFF2-40B4-BE49-F238E27FC236}">
                <a16:creationId xmlns:a16="http://schemas.microsoft.com/office/drawing/2014/main" id="{E17A8545-FFE3-FA3B-B666-420604A3745B}"/>
              </a:ext>
            </a:extLst>
          </p:cNvPr>
          <p:cNvSpPr txBox="1"/>
          <p:nvPr/>
        </p:nvSpPr>
        <p:spPr>
          <a:xfrm>
            <a:off x="6554485" y="2679145"/>
            <a:ext cx="13449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hu-HU" sz="20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Frontend</a:t>
            </a:r>
            <a:endParaRPr sz="2000" b="1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" name="Google Shape;192;p4">
            <a:extLst>
              <a:ext uri="{FF2B5EF4-FFF2-40B4-BE49-F238E27FC236}">
                <a16:creationId xmlns:a16="http://schemas.microsoft.com/office/drawing/2014/main" id="{3EEB5B3D-22D5-55E0-86BA-2E6724D8C3E8}"/>
              </a:ext>
            </a:extLst>
          </p:cNvPr>
          <p:cNvSpPr txBox="1"/>
          <p:nvPr/>
        </p:nvSpPr>
        <p:spPr>
          <a:xfrm>
            <a:off x="6643560" y="2293070"/>
            <a:ext cx="36324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hu-HU" sz="20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Jellemzők</a:t>
            </a:r>
            <a:endParaRPr sz="2000" b="1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6" name="Google Shape;194;p4">
            <a:extLst>
              <a:ext uri="{FF2B5EF4-FFF2-40B4-BE49-F238E27FC236}">
                <a16:creationId xmlns:a16="http://schemas.microsoft.com/office/drawing/2014/main" id="{A3B2C128-3C60-FEEF-C5C1-01D8921E77DB}"/>
              </a:ext>
            </a:extLst>
          </p:cNvPr>
          <p:cNvSpPr txBox="1"/>
          <p:nvPr/>
        </p:nvSpPr>
        <p:spPr>
          <a:xfrm>
            <a:off x="6554485" y="3065234"/>
            <a:ext cx="13449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hu-HU" sz="2000" b="1" i="0" u="none" strike="noStrike" cap="none" dirty="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Backend</a:t>
            </a:r>
            <a:endParaRPr sz="2000" b="1" i="0" u="none" strike="noStrike" cap="none" dirty="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7" name="Google Shape;195;p4">
            <a:extLst>
              <a:ext uri="{FF2B5EF4-FFF2-40B4-BE49-F238E27FC236}">
                <a16:creationId xmlns:a16="http://schemas.microsoft.com/office/drawing/2014/main" id="{5D534B77-2CF1-016E-ED59-C44857FE94C9}"/>
              </a:ext>
            </a:extLst>
          </p:cNvPr>
          <p:cNvSpPr/>
          <p:nvPr/>
        </p:nvSpPr>
        <p:spPr>
          <a:xfrm>
            <a:off x="8076042" y="2774545"/>
            <a:ext cx="1344900" cy="1563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196;p4">
            <a:extLst>
              <a:ext uri="{FF2B5EF4-FFF2-40B4-BE49-F238E27FC236}">
                <a16:creationId xmlns:a16="http://schemas.microsoft.com/office/drawing/2014/main" id="{4808C3F2-45BD-C8CB-1B99-2EA2EBB5F670}"/>
              </a:ext>
            </a:extLst>
          </p:cNvPr>
          <p:cNvSpPr txBox="1"/>
          <p:nvPr/>
        </p:nvSpPr>
        <p:spPr>
          <a:xfrm>
            <a:off x="9578785" y="2679145"/>
            <a:ext cx="6972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hu-HU" sz="180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60</a:t>
            </a:r>
            <a:r>
              <a:rPr lang="hu-HU" sz="1800" b="0" i="0" u="none" strike="noStrike" cap="none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%</a:t>
            </a:r>
            <a:endParaRPr sz="1800" b="0" i="0" u="none" strike="noStrike" cap="non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" name="Google Shape;197;p4">
            <a:extLst>
              <a:ext uri="{FF2B5EF4-FFF2-40B4-BE49-F238E27FC236}">
                <a16:creationId xmlns:a16="http://schemas.microsoft.com/office/drawing/2014/main" id="{D109DBF9-75DC-34BD-8150-73AAB44F8E79}"/>
              </a:ext>
            </a:extLst>
          </p:cNvPr>
          <p:cNvSpPr txBox="1"/>
          <p:nvPr/>
        </p:nvSpPr>
        <p:spPr>
          <a:xfrm>
            <a:off x="9578785" y="3065234"/>
            <a:ext cx="6972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hu-HU" sz="1800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40</a:t>
            </a:r>
            <a:r>
              <a:rPr lang="hu-HU" sz="1800" b="0" i="0" u="none" strike="noStrike" cap="none">
                <a:solidFill>
                  <a:schemeClr val="dk1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%</a:t>
            </a:r>
            <a:endParaRPr sz="1800" b="0" i="0" u="none" strike="noStrike" cap="none">
              <a:solidFill>
                <a:schemeClr val="dk1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10" name="Google Shape;198;p4">
            <a:extLst>
              <a:ext uri="{FF2B5EF4-FFF2-40B4-BE49-F238E27FC236}">
                <a16:creationId xmlns:a16="http://schemas.microsoft.com/office/drawing/2014/main" id="{640AB1B7-AF2D-1A9D-EC00-C1840865E438}"/>
              </a:ext>
            </a:extLst>
          </p:cNvPr>
          <p:cNvSpPr/>
          <p:nvPr/>
        </p:nvSpPr>
        <p:spPr>
          <a:xfrm>
            <a:off x="8076042" y="3160634"/>
            <a:ext cx="1344900" cy="1563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99;p4">
            <a:extLst>
              <a:ext uri="{FF2B5EF4-FFF2-40B4-BE49-F238E27FC236}">
                <a16:creationId xmlns:a16="http://schemas.microsoft.com/office/drawing/2014/main" id="{5E5841D8-B05A-2675-F524-867EBF799E39}"/>
              </a:ext>
            </a:extLst>
          </p:cNvPr>
          <p:cNvSpPr/>
          <p:nvPr/>
        </p:nvSpPr>
        <p:spPr>
          <a:xfrm>
            <a:off x="8076042" y="2774545"/>
            <a:ext cx="902070" cy="156300"/>
          </a:xfrm>
          <a:prstGeom prst="roundRect">
            <a:avLst>
              <a:gd name="adj" fmla="val 50000"/>
            </a:avLst>
          </a:prstGeom>
          <a:solidFill>
            <a:srgbClr val="FF84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00;p4">
            <a:extLst>
              <a:ext uri="{FF2B5EF4-FFF2-40B4-BE49-F238E27FC236}">
                <a16:creationId xmlns:a16="http://schemas.microsoft.com/office/drawing/2014/main" id="{31E22528-1441-145C-AA3C-F80CE4B9E2DD}"/>
              </a:ext>
            </a:extLst>
          </p:cNvPr>
          <p:cNvSpPr/>
          <p:nvPr/>
        </p:nvSpPr>
        <p:spPr>
          <a:xfrm>
            <a:off x="8076042" y="3160645"/>
            <a:ext cx="660053" cy="156300"/>
          </a:xfrm>
          <a:prstGeom prst="roundRect">
            <a:avLst>
              <a:gd name="adj" fmla="val 50000"/>
            </a:avLst>
          </a:prstGeom>
          <a:solidFill>
            <a:srgbClr val="FF8400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5776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1A6CD16-596F-2F70-3F46-8E2209E1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368625"/>
            <a:ext cx="4974771" cy="1403498"/>
          </a:xfrm>
        </p:spPr>
        <p:txBody>
          <a:bodyPr anchor="b">
            <a:normAutofit/>
          </a:bodyPr>
          <a:lstStyle/>
          <a:p>
            <a:r>
              <a:rPr lang="hu-HU" sz="3600" b="1">
                <a:ea typeface="+mj-lt"/>
                <a:cs typeface="+mj-lt"/>
              </a:rPr>
              <a:t>Program fejlesztése</a:t>
            </a:r>
            <a:endParaRPr lang="hu-HU" sz="3600">
              <a:ea typeface="+mj-lt"/>
              <a:cs typeface="+mj-lt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C7DD97-49DC-4BFD-951D-CFF51B976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141571" y="70488"/>
            <a:ext cx="3501861" cy="3501861"/>
            <a:chOff x="4690043" y="291695"/>
            <a:chExt cx="3055711" cy="305571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7DCFDCC-147C-40CA-BFDF-2848A4297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F8CA31-10D7-4B78-877D-2D21FBE553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76786CF-68E6-476D-909E-8522718B7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5057" y="3240578"/>
            <a:ext cx="3297290" cy="3297290"/>
            <a:chOff x="4690043" y="291695"/>
            <a:chExt cx="3055711" cy="305571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6D8E882-7D0E-42D7-99C8-D4865D7DA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rgbClr val="FFFFFF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15F1597-6BCF-45F1-9AC9-B142DD476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90043" y="291695"/>
              <a:ext cx="3055711" cy="305571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20" name="Oval 19">
            <a:extLst>
              <a:ext uri="{FF2B5EF4-FFF2-40B4-BE49-F238E27FC236}">
                <a16:creationId xmlns:a16="http://schemas.microsoft.com/office/drawing/2014/main" id="{EAED1919-54A1-41C9-B30B-A3FF3F58E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26220" y="30573"/>
            <a:ext cx="3483100" cy="3483100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0828" y="1091857"/>
            <a:ext cx="1291642" cy="429215"/>
            <a:chOff x="2504802" y="1755501"/>
            <a:chExt cx="1598829" cy="531293"/>
          </a:xfrm>
          <a:solidFill>
            <a:schemeClr val="tx1"/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" name="Kép 3" descr="A képen Grafika, képernyőkép, embléma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3E77A8B7-0912-9206-9B88-0F040597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73" y="998734"/>
            <a:ext cx="2584794" cy="1512104"/>
          </a:xfrm>
          <a:prstGeom prst="rect">
            <a:avLst/>
          </a:prstGeom>
        </p:spPr>
      </p:pic>
      <p:sp useBgFill="1">
        <p:nvSpPr>
          <p:cNvPr id="26" name="Oval 25">
            <a:extLst>
              <a:ext uri="{FF2B5EF4-FFF2-40B4-BE49-F238E27FC236}">
                <a16:creationId xmlns:a16="http://schemas.microsoft.com/office/drawing/2014/main" id="{FFFEB18F-F81F-4CED-BE64-EB888A77C3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93" y="3195231"/>
            <a:ext cx="3281677" cy="3281677"/>
          </a:xfrm>
          <a:prstGeom prst="ellips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Kép 4" descr="A képen Grafika, Betűtípus, embléma, Grafikus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E665C248-4B60-5EA8-A9D5-9751A7C97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14" y="4068567"/>
            <a:ext cx="2318835" cy="1567848"/>
          </a:xfrm>
          <a:prstGeom prst="rect">
            <a:avLst/>
          </a:prstGeom>
        </p:spPr>
      </p:pic>
      <p:grpSp>
        <p:nvGrpSpPr>
          <p:cNvPr id="28" name="Graphic 4">
            <a:extLst>
              <a:ext uri="{FF2B5EF4-FFF2-40B4-BE49-F238E27FC236}">
                <a16:creationId xmlns:a16="http://schemas.microsoft.com/office/drawing/2014/main" id="{A04977CB-3825-471A-A590-C57F8C350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997585" y="3139252"/>
            <a:ext cx="1330536" cy="1330521"/>
            <a:chOff x="5734037" y="3067039"/>
            <a:chExt cx="724483" cy="724489"/>
          </a:xfrm>
          <a:solidFill>
            <a:schemeClr val="tx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B4B4814-3BFD-418E-B5B6-9DC3E0023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B775DC1-0C03-424C-81DD-0B6373642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DA07F5D-1F32-483C-8A98-9849D780D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7A913DD-4597-42B1-9728-4127E83A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09FBB02-BC59-4864-8DBC-B2B2BD52B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BD87CAE-98EF-4EA4-B739-3304AB75B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A313AD8-2CA9-4181-84FF-A4EA106FB0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90E1FD27-6078-4DDB-85A5-EF3282363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87154F-1C33-4D96-AD0F-41A911079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9F7C24D-DA96-4B69-9D48-11ED65981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A1CC3BFF-8D2C-4191-AA89-4B5F07B5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30851AC-DB18-4C88-A8A2-449F772E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A0FBDE6-61C6-4EAD-BEF2-895D802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A861D3C-5355-4A4A-A875-EC40751A7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98E573C-00D7-4371-9CE5-C72044BCA0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B74B55B-C24A-4F7B-80B0-59E86E989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61FF18D-542A-4DA3-B579-046996571E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5CD3040-DA11-4096-9ECA-0547EB296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DBF68E6-70DC-4C9B-9E36-54DADF5D8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1A82FA5-7042-42C0-82C9-8068C36A6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F1F1E10-43A7-49C1-9611-E52FB1BF5C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E350A35C-3618-4456-8580-7687EDA43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4013BD1-ADEE-4116-8B16-8C5FB3B015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41350A0-245D-42A9-911D-82D77BC3D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8734813-52CA-4809-A0E0-348308DC4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E626E127-926A-4623-B87E-6944AA8F4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DADDE53E-0E40-4853-BCF0-9B152D6A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C13F1249-54EA-428F-AE2E-A0579B409F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952C80D7-048D-4658-A5FE-B698CC4E4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4A82C20A-8FDC-4735-9608-AD288081F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FB7CA94-32F3-403F-9F2B-1E2F701E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066606C-4588-4163-AD08-3AC14040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8565D18-023F-46E0-B825-199BFEAD6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F96FBB7-2ED0-47E0-9016-421EC9D3D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CFFB9F2-9F7C-43A4-A9E6-1EE70C00B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421F39C-6A35-4CF1-8E72-2A897C1F8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DA5561C-BFBA-4EA2-8A59-2910A2CDF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9F79817-A1A8-459C-A1DA-1639CC4EF1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30C5931-2980-4D21-A6AF-33BBB2B4A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130F5F5-6F7C-41EE-8CBB-1D0839C6F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6671993A-EC69-4341-90B1-F23F6EA5A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56C4EAD-EE30-43C6-99BC-D4CB4EE9E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0981292-8C2D-477F-BFC1-A0C971DE4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B673EB-AAA5-41CD-BD9E-19C05381C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F0F0673-73C3-44AE-9E98-EE65ADB27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0908B8D8-11C7-4C6B-9642-2AAD37E24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F2F92D7-98B0-4E76-B8C6-AADDDBFCC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5EC8DDD7-9501-4B67-9C31-6D5930A2B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7BD5C40-C542-47FD-9C2B-EE136CB97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4CE941A-9B71-4C39-B230-20A18D89BA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718F172-45D8-46D9-A359-D8A51BE64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51EDA59-37F4-47C4-9579-A4EE16156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CF25555-9B27-45F5-BDE8-EC65FC7B9D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18D4CBF-5079-4BCF-996F-48C5BD1DC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599F779A-FDDF-4E15-A19E-D734C95A5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8510558-1546-41C7-819E-0C4056E54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371F762-3D9D-459C-AC86-3183843A4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DECEFE0-53BB-47FB-97D7-AE0B0E3198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D7521B5-463A-40A3-BE61-B1CAE3307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6A3596C1-0483-4496-8755-DB608479D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89261538-C799-4246-B1B3-B3F5B09A0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DE36D9-78E7-44D9-BC0F-1BAFDE5B3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9D93E5-4ECA-4C24-9FF6-AC81334279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4C35E97-1F66-4BFD-AE92-7EBC84F1D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6BF299A-A3D1-430D-80FF-B080C6FC6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9E7CF736-D3DE-4C5E-AA1F-DC4C8AA3AF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396DF6B-432E-4903-B1AA-D3531FF8A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ECDFD65-3965-4589-A4C2-16510946F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8C54E5-84FF-4F13-AA46-FED8E8DAD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BECA2236-A9B4-439E-9BAB-56AE965F6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9441778-3D1A-4F75-A5A1-7214DAFB1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9B9AA094-8F15-4A0C-AA38-346BD5DDC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119958CA-594A-4498-84BE-F61BFC580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FDFCE354-2B72-4480-97DE-E882906FD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C973E6C-6BC5-4FF1-8ECA-861597312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64FCB3C-7129-40FC-B584-150E5E62F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11C60F-B3FE-47DD-BD11-D33173634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0D3EA065-68A6-4DD0-99BA-645480D4A4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B6AC294-B9BA-4C59-B08A-53548D610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5F31034-2EF3-4F10-85B8-454316F2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AA87A0E7-AF0B-4A66-AFF6-689E7D388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0D8E5EAF-B0C7-4E80-92EF-0209B4FE7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AA01C3F-AD71-4F07-8664-821309948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30EC962-F7C8-4F17-A8EB-8EC64ADEFB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FA0DA527-FFEF-4AB6-B38F-FDF228D5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FAB5776C-CF29-46E0-9A73-03A318AE6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572D84-640D-47CC-A862-6DCF1A73E6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0F9CD199-6195-4F64-9E22-94AD9D760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35BC72FF-17EE-425A-B62A-2E024A6D7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26F3AB89-E7FF-4C05-9243-32DF9B4DF6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DABD659D-3754-4F63-9C8D-54AB1549E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DF2EF3-55C8-4745-9F55-24B60215DD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3C67022-CC78-4114-891A-C34637A613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A0F93252-C331-4CBB-B4F8-6B12B3903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4537F3-EDF5-4626-AFBE-4488E0140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848604B-6F7A-4A76-96F8-6B7BE1FE81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3D47B0C-A018-4B2C-898B-2391FC845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3DD4A89-CBC7-4BEE-AF16-D76807C08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E63C3831-F632-40D9-84E9-FEDA73C6B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D39FEFA-CF2D-47D2-A180-417199AE8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987F2FB4-CAFE-4018-A06E-5BAB572FF7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C990CED-1FA9-4850-8469-1460027704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95BF6636-258D-497B-ABBF-1813F114B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7D9B40C-72EA-4EFC-B711-9F7828061E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54702A9-BABD-4005-8B4D-991D3CFB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E860B77-3AB6-46A1-9CE3-37D976AF4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292ABAA7-B221-4C32-8F87-ABBAE21ADA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1D416EA-36C9-4DC6-A012-0C0F3FDF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7F4DF81-59CD-4438-AA36-8F1BCCF97A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7C64A27-32D1-40C4-B94F-1093B6DE6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4797AB82-41AF-4856-AFC1-222C6DBC7B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80C1D340-365C-4212-A0FE-D7D06095B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493915A-115F-4720-86A4-853B732307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B7C4C77-1BED-4D31-8452-96E6F6B2A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98B04703-29C2-4A3B-AF19-7434D788E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57C845-906D-43D8-92DE-72EF460687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55858061-043C-4334-BFCE-D9F77366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5B825429-701A-43D0-83FA-2AF61D842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633109C-AACA-40CF-B41E-488FD48841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7558F3F-5D90-45F4-AA12-07ED3A519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451DD258-CE67-424A-BF5B-AFFA82B56B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4400BE62-7130-4D75-B3AB-AA78B0224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22DE0A40-C470-4BF2-86BE-950D01B0CE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FD0A8776-E748-4D71-999B-FF5213CB4F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9868C751-1379-453B-AC78-C61BCDFD7C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AB5E0827-B184-45E4-BE8A-A6E9B4456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28E9365-B34E-471B-B5F5-7D7AA0226C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E32C453C-483A-468F-8AE5-9653EE06C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8206E38D-8DBE-4126-8CAC-F737F5835F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ED5D9B69-81D5-4D7D-875B-4E07EC457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E5212BDC-A49B-4150-8C9A-BFD08D9E1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8A2BE4D-B38F-4C4C-A82F-FABB3DE999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94EFD994-9359-4615-BFA9-DFCC942F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205EAC6-6E11-4106-A079-7E9F2F62CA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EDDCF5F4-CA05-4922-AF4B-F9629D6F3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09113CF3-AB25-42A2-8DE0-735C1F40C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FB5092A3-B3FA-4AC8-82C3-FA386B8480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8F8F5D2-8958-4ED5-94E8-B4AB9F442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7D2E7CC-7DFE-42C8-9E78-44777D7B9C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6E57A90F-A41A-4C97-8EA3-ADD911EDD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9C217A0-4087-4422-8635-C74D0B13A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C0E89CF-75CB-4D42-9E44-ADF284D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564F9F3-0D82-4874-9440-38F3AF917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E318789-20ED-497A-AFEB-3280B07AB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F2256C04-2807-49A4-93C3-95542421D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4FBD6ED-2E68-4F38-BF88-DC75DAECA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F7BF2B0-9477-4227-9CDB-98E8AF7C1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7B6B9DAA-B992-45AD-A992-9CDFB41B94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DE418D1-D67F-4FD8-BA49-CC986A7127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9AB1E1F-243A-489C-8753-69078993E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5E4BFF9-A8A8-4B08-AC59-228B81E0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D3D80DFA-96DF-4CD6-B136-557368FF3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1ED3E86E-8BEE-463D-A646-180ABD21F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DD483A5-049C-4EBA-B2D1-910117903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116FEF0-D89A-43D8-B160-04E86A39F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517D6EEA-1BB1-4EC1-87B7-2CAFBE348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EBD1224-D8F1-4976-BE1F-B4ABB071AD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DEBB9B87-CACC-4819-BEFA-C8A0C1AF2A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5259DF1F-DEAD-492D-AFEE-BA7BB1A7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D3573A36-F1A6-4532-829C-AE49B7CE2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A8D26A-350C-45FE-AA87-4AC5C0568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044A982-3E0F-4D17-9104-27E2D2D2F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68EB580A-7544-41A1-AE10-5C52B00FBD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65DBF4F2-4158-4DA7-AF14-7F9DDF07B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43513B1-0D48-4482-AA4E-2046DE585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AC04BF60-8F64-4663-A8B4-D8BC1943B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1B9A4999-4058-4260-B3D7-A8B6C1361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99FCBE72-DC7B-42FD-B59A-E1714802E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2FC3A23A-4EDB-4DD4-B293-746E0255A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1C983F0-8DE2-2F1D-705F-D8A452878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958550"/>
            <a:ext cx="5153511" cy="3810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hu-HU">
                <a:latin typeface="Arial"/>
                <a:cs typeface="Arial"/>
              </a:rPr>
              <a:t>HTML/CSS/JavaScript/React → Frontend</a:t>
            </a:r>
            <a:endParaRPr lang="en-US">
              <a:latin typeface="Arial"/>
              <a:cs typeface="Arial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hu-HU">
                <a:latin typeface="Arial"/>
                <a:cs typeface="Arial"/>
              </a:rPr>
              <a:t>JavaScript → Backend</a:t>
            </a:r>
            <a:endParaRPr lang="en-US">
              <a:latin typeface="Arial"/>
              <a:cs typeface="Arial"/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en-US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,Sans-Serif" panose="020B0604020202020204" pitchFamily="34" charset="0"/>
            </a:pPr>
            <a:r>
              <a:rPr lang="hu-HU">
                <a:latin typeface="Arial"/>
                <a:cs typeface="Arial"/>
              </a:rPr>
              <a:t>MySQL → Adatbázis</a:t>
            </a:r>
            <a:endParaRPr lang="hu-HU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086778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AF7A644-17A9-C687-27D7-10082EAC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Adatbázis</a:t>
            </a:r>
            <a:endParaRPr lang="hu-HU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DDA9924-AEC7-D3D1-1E7A-301FB4E35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Source Sans Pro"/>
              </a:rPr>
              <a:t>A </a:t>
            </a:r>
            <a:r>
              <a:rPr lang="en-US" dirty="0" err="1">
                <a:ea typeface="Source Sans Pro"/>
              </a:rPr>
              <a:t>felhasználó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tábla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össze</a:t>
            </a:r>
            <a:r>
              <a:rPr lang="en-US" dirty="0">
                <a:ea typeface="Source Sans Pro"/>
              </a:rPr>
              <a:t> van </a:t>
            </a:r>
            <a:r>
              <a:rPr lang="en-US" dirty="0" err="1">
                <a:ea typeface="Source Sans Pro"/>
              </a:rPr>
              <a:t>kötve</a:t>
            </a:r>
            <a:r>
              <a:rPr lang="en-US" dirty="0">
                <a:ea typeface="Source Sans Pro"/>
              </a:rPr>
              <a:t> a post </a:t>
            </a:r>
            <a:r>
              <a:rPr lang="en-US" dirty="0" err="1">
                <a:ea typeface="Source Sans Pro"/>
              </a:rPr>
              <a:t>táblával</a:t>
            </a:r>
            <a:r>
              <a:rPr lang="en-US" dirty="0">
                <a:ea typeface="Source Sans Pro"/>
              </a:rPr>
              <a:t>, </a:t>
            </a:r>
            <a:r>
              <a:rPr lang="en-US" dirty="0" err="1">
                <a:ea typeface="Source Sans Pro"/>
              </a:rPr>
              <a:t>hogy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lehesen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tudni</a:t>
            </a:r>
            <a:r>
              <a:rPr lang="en-US" dirty="0">
                <a:ea typeface="Source Sans Pro"/>
              </a:rPr>
              <a:t> ki </a:t>
            </a:r>
            <a:r>
              <a:rPr lang="en-US" dirty="0" err="1">
                <a:ea typeface="Source Sans Pro"/>
              </a:rPr>
              <a:t>rakta</a:t>
            </a:r>
            <a:r>
              <a:rPr lang="en-US" dirty="0">
                <a:ea typeface="Source Sans Pro"/>
              </a:rPr>
              <a:t> ki </a:t>
            </a:r>
            <a:r>
              <a:rPr lang="en-US" dirty="0" err="1">
                <a:ea typeface="Source Sans Pro"/>
              </a:rPr>
              <a:t>és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vissza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kereshető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legyen</a:t>
            </a:r>
            <a:r>
              <a:rPr lang="en-US" dirty="0">
                <a:ea typeface="Source Sans Pro"/>
              </a:rPr>
              <a:t>.</a:t>
            </a:r>
          </a:p>
          <a:p>
            <a:r>
              <a:rPr lang="en-US" dirty="0">
                <a:ea typeface="Source Sans Pro"/>
              </a:rPr>
              <a:t>A </a:t>
            </a:r>
            <a:r>
              <a:rPr lang="en-US" dirty="0" err="1">
                <a:ea typeface="Source Sans Pro"/>
              </a:rPr>
              <a:t>felhasználók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jelszava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kodólva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vannak</a:t>
            </a:r>
            <a:r>
              <a:rPr lang="en-US" dirty="0">
                <a:ea typeface="Source Sans Pro"/>
              </a:rPr>
              <a:t>, </a:t>
            </a:r>
            <a:r>
              <a:rPr lang="en-US" dirty="0" err="1">
                <a:ea typeface="Source Sans Pro"/>
              </a:rPr>
              <a:t>biztonság</a:t>
            </a:r>
            <a:r>
              <a:rPr lang="en-US" dirty="0">
                <a:ea typeface="Source Sans Pro"/>
              </a:rPr>
              <a:t> </a:t>
            </a:r>
            <a:r>
              <a:rPr lang="en-US" dirty="0" err="1">
                <a:ea typeface="Source Sans Pro"/>
              </a:rPr>
              <a:t>érdekében</a:t>
            </a:r>
          </a:p>
        </p:txBody>
      </p:sp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2F0D9D0D-1465-C131-880C-C215A6166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73" y="1240951"/>
            <a:ext cx="4072815" cy="4032086"/>
          </a:xfrm>
          <a:prstGeom prst="rect">
            <a:avLst/>
          </a:prstGeom>
        </p:spPr>
      </p:pic>
      <p:grpSp>
        <p:nvGrpSpPr>
          <p:cNvPr id="21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201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11474B-0BF7-968A-D80B-A1A673F2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Tartalom helye 3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AFAA1FEF-BE95-EFCC-7BB5-001703C918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100" y="2028172"/>
            <a:ext cx="11849100" cy="280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30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82CF0CC-850A-C3D0-3D63-B5D8D5B0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Source Sans Pro"/>
              </a:rPr>
              <a:t>Kezdőlap</a:t>
            </a:r>
            <a:endParaRPr lang="hu-HU"/>
          </a:p>
        </p:txBody>
      </p:sp>
      <p:pic>
        <p:nvPicPr>
          <p:cNvPr id="4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73880B3A-E911-5DD4-262C-3EE2CCD70B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081" y="1713527"/>
            <a:ext cx="5488609" cy="2631285"/>
          </a:xfrm>
          <a:prstGeom prst="rect">
            <a:avLst/>
          </a:prstGeom>
        </p:spPr>
      </p:pic>
      <p:pic>
        <p:nvPicPr>
          <p:cNvPr id="5" name="Kép 4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80E42EB-CA32-6339-143C-2473D41E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739" y="3022489"/>
            <a:ext cx="6217479" cy="29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5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13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3437630-2919-378C-1556-5515C0D55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868" y="489098"/>
            <a:ext cx="5217172" cy="1137683"/>
          </a:xfrm>
        </p:spPr>
        <p:txBody>
          <a:bodyPr anchor="b">
            <a:normAutofit/>
          </a:bodyPr>
          <a:lstStyle/>
          <a:p>
            <a:r>
              <a:rPr lang="hu-HU" sz="3400">
                <a:ea typeface="Source Sans Pro"/>
              </a:rPr>
              <a:t>Regisztráció/Bejelentkezés</a:t>
            </a:r>
            <a:endParaRPr lang="hu-HU" sz="3400"/>
          </a:p>
        </p:txBody>
      </p:sp>
      <p:pic>
        <p:nvPicPr>
          <p:cNvPr id="8" name="Kép 7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45600864-D3ED-329F-37CA-4997AE28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21" y="345358"/>
            <a:ext cx="1390983" cy="2868007"/>
          </a:xfrm>
          <a:prstGeom prst="rect">
            <a:avLst/>
          </a:prstGeom>
        </p:spPr>
      </p:pic>
      <p:sp>
        <p:nvSpPr>
          <p:cNvPr id="61" name="Graphic 212">
            <a:extLst>
              <a:ext uri="{FF2B5EF4-FFF2-40B4-BE49-F238E27FC236}">
                <a16:creationId xmlns:a16="http://schemas.microsoft.com/office/drawing/2014/main" id="{E7C065BD-BDC2-4800-908F-25C30F042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1896" y="1135046"/>
            <a:ext cx="621649" cy="62164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62" name="Graphic 212">
            <a:extLst>
              <a:ext uri="{FF2B5EF4-FFF2-40B4-BE49-F238E27FC236}">
                <a16:creationId xmlns:a16="http://schemas.microsoft.com/office/drawing/2014/main" id="{612A1BC7-2F25-41BC-A0DC-8680CE996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11896" y="1135046"/>
            <a:ext cx="621649" cy="621649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63" name="Freeform: Shape 19">
            <a:extLst>
              <a:ext uri="{FF2B5EF4-FFF2-40B4-BE49-F238E27FC236}">
                <a16:creationId xmlns:a16="http://schemas.microsoft.com/office/drawing/2014/main" id="{A3D5586F-4573-4C57-9793-1EBFDC896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9548" y="3308725"/>
            <a:ext cx="1910252" cy="274628"/>
          </a:xfrm>
          <a:custGeom>
            <a:avLst/>
            <a:gdLst>
              <a:gd name="connsiteX0" fmla="*/ 1489414 w 1990951"/>
              <a:gd name="connsiteY0" fmla="*/ 286231 h 286230"/>
              <a:gd name="connsiteX1" fmla="*/ 1243712 w 1990951"/>
              <a:gd name="connsiteY1" fmla="*/ 40528 h 286230"/>
              <a:gd name="connsiteX2" fmla="*/ 995476 w 1990951"/>
              <a:gd name="connsiteY2" fmla="*/ 286231 h 286230"/>
              <a:gd name="connsiteX3" fmla="*/ 749773 w 1990951"/>
              <a:gd name="connsiteY3" fmla="*/ 40528 h 286230"/>
              <a:gd name="connsiteX4" fmla="*/ 504071 w 1990951"/>
              <a:gd name="connsiteY4" fmla="*/ 286231 h 286230"/>
              <a:gd name="connsiteX5" fmla="*/ 255835 w 1990951"/>
              <a:gd name="connsiteY5" fmla="*/ 40528 h 286230"/>
              <a:gd name="connsiteX6" fmla="*/ 20264 w 1990951"/>
              <a:gd name="connsiteY6" fmla="*/ 276099 h 286230"/>
              <a:gd name="connsiteX7" fmla="*/ 0 w 1990951"/>
              <a:gd name="connsiteY7" fmla="*/ 255835 h 286230"/>
              <a:gd name="connsiteX8" fmla="*/ 255835 w 1990951"/>
              <a:gd name="connsiteY8" fmla="*/ 0 h 286230"/>
              <a:gd name="connsiteX9" fmla="*/ 504071 w 1990951"/>
              <a:gd name="connsiteY9" fmla="*/ 245703 h 286230"/>
              <a:gd name="connsiteX10" fmla="*/ 749773 w 1990951"/>
              <a:gd name="connsiteY10" fmla="*/ 0 h 286230"/>
              <a:gd name="connsiteX11" fmla="*/ 995476 w 1990951"/>
              <a:gd name="connsiteY11" fmla="*/ 245703 h 286230"/>
              <a:gd name="connsiteX12" fmla="*/ 1243712 w 1990951"/>
              <a:gd name="connsiteY12" fmla="*/ 0 h 286230"/>
              <a:gd name="connsiteX13" fmla="*/ 1489414 w 1990951"/>
              <a:gd name="connsiteY13" fmla="*/ 245703 h 286230"/>
              <a:gd name="connsiteX14" fmla="*/ 1735117 w 1990951"/>
              <a:gd name="connsiteY14" fmla="*/ 0 h 286230"/>
              <a:gd name="connsiteX15" fmla="*/ 1990952 w 1990951"/>
              <a:gd name="connsiteY15" fmla="*/ 255835 h 286230"/>
              <a:gd name="connsiteX16" fmla="*/ 1973221 w 1990951"/>
              <a:gd name="connsiteY16" fmla="*/ 276099 h 286230"/>
              <a:gd name="connsiteX17" fmla="*/ 1735117 w 1990951"/>
              <a:gd name="connsiteY17" fmla="*/ 40528 h 2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90951" h="286230">
                <a:moveTo>
                  <a:pt x="1489414" y="286231"/>
                </a:moveTo>
                <a:lnTo>
                  <a:pt x="1243712" y="40528"/>
                </a:lnTo>
                <a:lnTo>
                  <a:pt x="995476" y="286231"/>
                </a:lnTo>
                <a:lnTo>
                  <a:pt x="749773" y="40528"/>
                </a:lnTo>
                <a:lnTo>
                  <a:pt x="504071" y="286231"/>
                </a:lnTo>
                <a:lnTo>
                  <a:pt x="255835" y="40528"/>
                </a:lnTo>
                <a:lnTo>
                  <a:pt x="20264" y="276099"/>
                </a:lnTo>
                <a:lnTo>
                  <a:pt x="0" y="255835"/>
                </a:lnTo>
                <a:lnTo>
                  <a:pt x="255835" y="0"/>
                </a:lnTo>
                <a:lnTo>
                  <a:pt x="504071" y="245703"/>
                </a:lnTo>
                <a:lnTo>
                  <a:pt x="749773" y="0"/>
                </a:lnTo>
                <a:lnTo>
                  <a:pt x="995476" y="245703"/>
                </a:lnTo>
                <a:lnTo>
                  <a:pt x="1243712" y="0"/>
                </a:lnTo>
                <a:lnTo>
                  <a:pt x="1489414" y="245703"/>
                </a:lnTo>
                <a:lnTo>
                  <a:pt x="1735117" y="0"/>
                </a:lnTo>
                <a:lnTo>
                  <a:pt x="1990952" y="255835"/>
                </a:lnTo>
                <a:lnTo>
                  <a:pt x="1973221" y="276099"/>
                </a:lnTo>
                <a:lnTo>
                  <a:pt x="1735117" y="40528"/>
                </a:lnTo>
                <a:close/>
              </a:path>
            </a:pathLst>
          </a:custGeom>
          <a:solidFill>
            <a:schemeClr val="tx1"/>
          </a:solidFill>
          <a:ln w="253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" name="Freeform: Shape 21">
            <a:extLst>
              <a:ext uri="{FF2B5EF4-FFF2-40B4-BE49-F238E27FC236}">
                <a16:creationId xmlns:a16="http://schemas.microsoft.com/office/drawing/2014/main" id="{5EED35EF-93A0-4921-941C-ECC67AE2A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9548" y="3743757"/>
            <a:ext cx="1910252" cy="274628"/>
          </a:xfrm>
          <a:custGeom>
            <a:avLst/>
            <a:gdLst>
              <a:gd name="connsiteX0" fmla="*/ 1489414 w 1990951"/>
              <a:gd name="connsiteY0" fmla="*/ 286231 h 286230"/>
              <a:gd name="connsiteX1" fmla="*/ 1243712 w 1990951"/>
              <a:gd name="connsiteY1" fmla="*/ 40528 h 286230"/>
              <a:gd name="connsiteX2" fmla="*/ 995476 w 1990951"/>
              <a:gd name="connsiteY2" fmla="*/ 286231 h 286230"/>
              <a:gd name="connsiteX3" fmla="*/ 749773 w 1990951"/>
              <a:gd name="connsiteY3" fmla="*/ 40528 h 286230"/>
              <a:gd name="connsiteX4" fmla="*/ 504071 w 1990951"/>
              <a:gd name="connsiteY4" fmla="*/ 286231 h 286230"/>
              <a:gd name="connsiteX5" fmla="*/ 255835 w 1990951"/>
              <a:gd name="connsiteY5" fmla="*/ 40528 h 286230"/>
              <a:gd name="connsiteX6" fmla="*/ 20264 w 1990951"/>
              <a:gd name="connsiteY6" fmla="*/ 276099 h 286230"/>
              <a:gd name="connsiteX7" fmla="*/ 0 w 1990951"/>
              <a:gd name="connsiteY7" fmla="*/ 258368 h 286230"/>
              <a:gd name="connsiteX8" fmla="*/ 255835 w 1990951"/>
              <a:gd name="connsiteY8" fmla="*/ 0 h 286230"/>
              <a:gd name="connsiteX9" fmla="*/ 504071 w 1990951"/>
              <a:gd name="connsiteY9" fmla="*/ 248236 h 286230"/>
              <a:gd name="connsiteX10" fmla="*/ 749773 w 1990951"/>
              <a:gd name="connsiteY10" fmla="*/ 0 h 286230"/>
              <a:gd name="connsiteX11" fmla="*/ 995476 w 1990951"/>
              <a:gd name="connsiteY11" fmla="*/ 248236 h 286230"/>
              <a:gd name="connsiteX12" fmla="*/ 1243712 w 1990951"/>
              <a:gd name="connsiteY12" fmla="*/ 0 h 286230"/>
              <a:gd name="connsiteX13" fmla="*/ 1489414 w 1990951"/>
              <a:gd name="connsiteY13" fmla="*/ 248236 h 286230"/>
              <a:gd name="connsiteX14" fmla="*/ 1735117 w 1990951"/>
              <a:gd name="connsiteY14" fmla="*/ 0 h 286230"/>
              <a:gd name="connsiteX15" fmla="*/ 1990952 w 1990951"/>
              <a:gd name="connsiteY15" fmla="*/ 258368 h 286230"/>
              <a:gd name="connsiteX16" fmla="*/ 1973221 w 1990951"/>
              <a:gd name="connsiteY16" fmla="*/ 276099 h 286230"/>
              <a:gd name="connsiteX17" fmla="*/ 1735117 w 1990951"/>
              <a:gd name="connsiteY17" fmla="*/ 40528 h 2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90951" h="286230">
                <a:moveTo>
                  <a:pt x="1489414" y="286231"/>
                </a:moveTo>
                <a:lnTo>
                  <a:pt x="1243712" y="40528"/>
                </a:lnTo>
                <a:lnTo>
                  <a:pt x="995476" y="286231"/>
                </a:lnTo>
                <a:lnTo>
                  <a:pt x="749773" y="40528"/>
                </a:lnTo>
                <a:lnTo>
                  <a:pt x="504071" y="286231"/>
                </a:lnTo>
                <a:lnTo>
                  <a:pt x="255835" y="40528"/>
                </a:lnTo>
                <a:lnTo>
                  <a:pt x="20264" y="276099"/>
                </a:lnTo>
                <a:lnTo>
                  <a:pt x="0" y="258368"/>
                </a:lnTo>
                <a:lnTo>
                  <a:pt x="255835" y="0"/>
                </a:lnTo>
                <a:lnTo>
                  <a:pt x="504071" y="248236"/>
                </a:lnTo>
                <a:lnTo>
                  <a:pt x="749773" y="0"/>
                </a:lnTo>
                <a:lnTo>
                  <a:pt x="995476" y="248236"/>
                </a:lnTo>
                <a:lnTo>
                  <a:pt x="1243712" y="0"/>
                </a:lnTo>
                <a:lnTo>
                  <a:pt x="1489414" y="248236"/>
                </a:lnTo>
                <a:lnTo>
                  <a:pt x="1735117" y="0"/>
                </a:lnTo>
                <a:lnTo>
                  <a:pt x="1990952" y="258368"/>
                </a:lnTo>
                <a:lnTo>
                  <a:pt x="1973221" y="276099"/>
                </a:lnTo>
                <a:lnTo>
                  <a:pt x="1735117" y="40528"/>
                </a:lnTo>
                <a:close/>
              </a:path>
            </a:pathLst>
          </a:custGeom>
          <a:solidFill>
            <a:schemeClr val="tx1"/>
          </a:solidFill>
          <a:ln w="253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Kép 8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787F596A-186C-9117-1675-92B83ACB57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273" y="2642456"/>
            <a:ext cx="2452521" cy="2868007"/>
          </a:xfrm>
          <a:prstGeom prst="rect">
            <a:avLst/>
          </a:prstGeom>
        </p:spPr>
      </p:pic>
      <p:grpSp>
        <p:nvGrpSpPr>
          <p:cNvPr id="65" name="Group 23">
            <a:extLst>
              <a:ext uri="{FF2B5EF4-FFF2-40B4-BE49-F238E27FC236}">
                <a16:creationId xmlns:a16="http://schemas.microsoft.com/office/drawing/2014/main" id="{FBA57177-DC07-469A-BAC9-36D6E5948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25273" y="5507052"/>
            <a:ext cx="1413328" cy="1350947"/>
            <a:chOff x="2625273" y="5507052"/>
            <a:chExt cx="1413328" cy="1350947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04689" y="5586468"/>
              <a:ext cx="299964" cy="299964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30332" y="5512111"/>
              <a:ext cx="611565" cy="611565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25273" y="5507052"/>
              <a:ext cx="781022" cy="78102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46264" y="5527790"/>
              <a:ext cx="895343" cy="89559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8754" y="5570533"/>
              <a:ext cx="968187" cy="96818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7433" y="5629212"/>
              <a:ext cx="1009666" cy="1009666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20526" y="5702305"/>
              <a:ext cx="1022819" cy="1022819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08039" y="5788554"/>
              <a:ext cx="1008400" cy="1009664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3F754F7-4BA0-4680-869F-AC312694E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04689" y="5586468"/>
              <a:ext cx="299964" cy="299964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06425" y="5888204"/>
              <a:ext cx="968692" cy="968692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DA0090F-4FBF-434D-83B1-B274F83A9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3536" y="6004044"/>
              <a:ext cx="864072" cy="853955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24217F-8EC0-4A99-A861-4333553CF9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30332" y="5512111"/>
              <a:ext cx="611565" cy="611565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8DF6032-C07A-45C6-8A4F-04EF4EDC0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16440" y="6139358"/>
              <a:ext cx="722161" cy="718641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ADDD742-9F78-44F9-9FB7-07841AD981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25273" y="5507052"/>
              <a:ext cx="781022" cy="78102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38">
              <a:extLst>
                <a:ext uri="{FF2B5EF4-FFF2-40B4-BE49-F238E27FC236}">
                  <a16:creationId xmlns:a16="http://schemas.microsoft.com/office/drawing/2014/main" id="{F5B89F44-A096-479D-AD1F-120561C2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9303" y="6303757"/>
              <a:ext cx="554242" cy="55424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E06D15A-9830-4BD8-941F-3401B4B37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46264" y="5527790"/>
              <a:ext cx="895343" cy="89559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376E293-3542-4A0D-B906-18A667FE64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88754" y="5570533"/>
              <a:ext cx="968187" cy="96818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59220" y="6540999"/>
              <a:ext cx="299712" cy="299712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BCDBC02-576D-4CB8-A680-1F34451C4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747433" y="5629212"/>
              <a:ext cx="1009666" cy="1009666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70D43D6-E2E8-4B2D-99A7-625777795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820526" y="5702305"/>
              <a:ext cx="1022819" cy="1022819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AE75479-8103-43A6-8C23-3ADA8BCDD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908039" y="5788554"/>
              <a:ext cx="1008400" cy="1009664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07BCA37-F830-489A-9744-2734700DBA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06425" y="5888204"/>
              <a:ext cx="968692" cy="968692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43EF8B7-4D3B-401E-AECE-638737ECF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3536" y="6004044"/>
              <a:ext cx="864072" cy="853955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1B31A68-DF24-4252-ABA0-E6252A3649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16440" y="6139358"/>
              <a:ext cx="722161" cy="718641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4E2405E-8B27-4BDE-90C7-6A481CD9A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9303" y="6303757"/>
              <a:ext cx="554242" cy="55424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321D52E-9002-40DD-B1B2-0DC6C3A32A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59220" y="6540999"/>
              <a:ext cx="299712" cy="299712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tx1">
                <a:alpha val="2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3E3BB079-EDF5-0BB3-E29A-D30DFB869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824533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Source Sans Pro"/>
              </a:rPr>
              <a:t>A bejlentkezési panelt és regisztrációt le tisztult designra terveztük.</a:t>
            </a:r>
          </a:p>
          <a:p>
            <a:r>
              <a:rPr lang="hu-HU">
                <a:ea typeface="Source Sans Pro"/>
              </a:rPr>
              <a:t>Késsőbbi fejlesztésekben, elérhetővé fogjuk tenni a google bejelentkezési lehetőséget is</a:t>
            </a:r>
            <a:endParaRPr lang="hu-HU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111032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9" name="Rectangle 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0" name="Freeform: Shape 10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81" name="Freeform: Shape 12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82" name="Freeform: Shape 14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3" name="Freeform: Shape 16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2D393CE-F7E4-4368-181B-B469149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Vezérlőpult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EC1F49-24BC-0E89-4BA9-3BA38F2D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Source Sans Pro"/>
              </a:rPr>
              <a:t>Itt meg található üzenetek törlése és szerkesztési lehetősége, és kijelzőhoz rendelt kód generálása, és törölhetőek is a kijelzők.</a:t>
            </a:r>
          </a:p>
          <a:p>
            <a:r>
              <a:rPr lang="hu-HU">
                <a:ea typeface="Source Sans Pro"/>
              </a:rPr>
              <a:t>Egy le tisztult kezelő felületett akartunk el érni hogy a felhasználó könyen kezelhese.</a:t>
            </a:r>
            <a:endParaRPr lang="hu-HU" dirty="0">
              <a:ea typeface="Source Sans Pro"/>
            </a:endParaRPr>
          </a:p>
        </p:txBody>
      </p:sp>
      <p:pic>
        <p:nvPicPr>
          <p:cNvPr id="4" name="Kép 3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BC0C95DE-5F99-6FD0-15B8-BDC2944AE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473" y="3328269"/>
            <a:ext cx="4072815" cy="1944769"/>
          </a:xfrm>
          <a:prstGeom prst="rect">
            <a:avLst/>
          </a:prstGeom>
        </p:spPr>
      </p:pic>
      <p:grpSp>
        <p:nvGrpSpPr>
          <p:cNvPr id="384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22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2682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1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12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C64CE43-D69B-4B4F-8D9F-6ED823F7E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2" y="633046"/>
            <a:ext cx="4463623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Új üzenetek/Új események</a:t>
            </a:r>
            <a:endParaRPr lang="hu-HU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67B9EF-A47F-AB79-9AE7-0F7FF93A6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252" y="2125737"/>
            <a:ext cx="4463623" cy="40444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Source Sans Pro"/>
              </a:rPr>
              <a:t>Fel lehet vinni sima üzeneteket ami másnapra el is tünnek, az események által fel vihető a havi terv esetleg heti terv eseményei ezzen belül is. </a:t>
            </a:r>
            <a:endParaRPr lang="hu-H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9E00F87-86BE-4F3A-9141-35EC0659D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6" name="Kép 5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681F69C5-19A2-E3F2-0FAE-30F268AC0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10" y="1169925"/>
            <a:ext cx="5159333" cy="239640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BAF167C-3D30-4736-A6B7-5965437B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Kép 4" descr="A képen szöveg, képernyőkép, szoftver, Multimédiás szoftver látható&#10;&#10;Lehet, hogy az AI által létrehozott tartalom helytelen.">
            <a:extLst>
              <a:ext uri="{FF2B5EF4-FFF2-40B4-BE49-F238E27FC236}">
                <a16:creationId xmlns:a16="http://schemas.microsoft.com/office/drawing/2014/main" id="{E3026494-CC30-6203-4E69-7FEEC7E1C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710" y="3941728"/>
            <a:ext cx="5280811" cy="2528814"/>
          </a:xfrm>
          <a:prstGeom prst="rect">
            <a:avLst/>
          </a:prstGeom>
        </p:spPr>
      </p:pic>
      <p:grpSp>
        <p:nvGrpSpPr>
          <p:cNvPr id="25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27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737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3008F69-382B-C7B5-FA7B-C6487C090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Felhasználó szerkesztése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B0540A-5718-43C6-FFD7-C23F96FC6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Source Sans Pro"/>
              </a:rPr>
              <a:t>Elérhető a fiók szerkesztés nálunk.</a:t>
            </a:r>
          </a:p>
          <a:p>
            <a:r>
              <a:rPr lang="hu-HU">
                <a:ea typeface="Source Sans Pro"/>
              </a:rPr>
              <a:t>Jelszó, email cím, felhasználói név változtatása.</a:t>
            </a:r>
          </a:p>
          <a:p>
            <a:endParaRPr lang="hu-HU" dirty="0">
              <a:ea typeface="Source Sans Pro"/>
            </a:endParaRPr>
          </a:p>
        </p:txBody>
      </p:sp>
      <p:pic>
        <p:nvPicPr>
          <p:cNvPr id="5" name="Kép 4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926F43C9-E614-2786-A1F8-A4E076C96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299" y="2231590"/>
            <a:ext cx="4956293" cy="3284404"/>
          </a:xfrm>
          <a:prstGeom prst="rect">
            <a:avLst/>
          </a:prstGeom>
        </p:spPr>
      </p:pic>
      <p:grpSp>
        <p:nvGrpSpPr>
          <p:cNvPr id="39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134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D1FA3-6212-4B97-9B1E-C7F81247C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1C51958-04D4-4687-95A2-95DCDCF47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226F732-FC68-00D8-2212-CD5C91524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854" y="633046"/>
            <a:ext cx="4834021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Display entry vagy is kijelző kód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0561318-1443-BAA3-B773-C35BE66DE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1854" y="2125737"/>
            <a:ext cx="4834021" cy="404446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hu-HU">
                <a:ea typeface="Source Sans Pro"/>
              </a:rPr>
              <a:t>Ezzen az oldalón elérhető ahova be kell írni a generált kijelző kódot hogy meg jelenítse a diák vagy tanári oldalt. A kódtol függ ami generáltatva lett.</a:t>
            </a:r>
            <a:endParaRPr lang="hu-HU"/>
          </a:p>
        </p:txBody>
      </p:sp>
      <p:pic>
        <p:nvPicPr>
          <p:cNvPr id="5" name="Kép 4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7A96CBB7-EC80-BA0D-4943-A3CED6B5E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577" y="1200223"/>
            <a:ext cx="3451711" cy="4072815"/>
          </a:xfrm>
          <a:prstGeom prst="rect">
            <a:avLst/>
          </a:prstGeom>
        </p:spPr>
      </p:pic>
      <p:grpSp>
        <p:nvGrpSpPr>
          <p:cNvPr id="20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86608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F5DFEEA9-8E63-C7CB-99B3-4395F11B4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2252" y="633046"/>
            <a:ext cx="4463623" cy="1314996"/>
          </a:xfrm>
        </p:spPr>
        <p:txBody>
          <a:bodyPr anchor="b">
            <a:normAutofit/>
          </a:bodyPr>
          <a:lstStyle/>
          <a:p>
            <a:r>
              <a:rPr lang="hu-HU">
                <a:ea typeface="Source Sans Pro"/>
              </a:rPr>
              <a:t>Diák/Tanári kijelző</a:t>
            </a:r>
            <a:endParaRPr lang="hu-HU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92656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2391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065813-40BA-43DC-09E0-AE395F71A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2252" y="2125737"/>
            <a:ext cx="4463623" cy="40444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Source Sans Pro"/>
              </a:rPr>
              <a:t>Megjelenek</a:t>
            </a:r>
            <a:r>
              <a:rPr lang="en-US" dirty="0">
                <a:ea typeface="Source Sans Pro"/>
              </a:rPr>
              <a:t> a </a:t>
            </a:r>
            <a:r>
              <a:rPr lang="en-US" dirty="0" err="1">
                <a:ea typeface="Source Sans Pro"/>
              </a:rPr>
              <a:t>friss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hírek</a:t>
            </a:r>
            <a:r>
              <a:rPr lang="en-US" dirty="0">
                <a:ea typeface="Source Sans Pro"/>
              </a:rPr>
              <a:t>, </a:t>
            </a:r>
            <a:r>
              <a:rPr lang="en-US" dirty="0" err="1">
                <a:ea typeface="Source Sans Pro"/>
              </a:rPr>
              <a:t>heti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és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havi</a:t>
            </a:r>
            <a:r>
              <a:rPr lang="en-US" dirty="0">
                <a:ea typeface="Source Sans Pro"/>
              </a:rPr>
              <a:t> </a:t>
            </a:r>
            <a:r>
              <a:rPr lang="en-US" dirty="0" err="1">
                <a:ea typeface="Source Sans Pro"/>
              </a:rPr>
              <a:t>események</a:t>
            </a:r>
            <a:endParaRPr lang="en-US" dirty="0" err="1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9E00F87-86BE-4F3A-9141-35EC0659D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"/>
            <a:ext cx="2232251" cy="2361890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pic>
        <p:nvPicPr>
          <p:cNvPr id="5" name="Kép 4" descr="A képen szöveg, képernyőkép, Betűtípus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19ECD1AA-91C7-8A46-F8CE-3F784CFD5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145" y="1192011"/>
            <a:ext cx="4463594" cy="2131366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BAF167C-3D30-4736-A6B7-5965437B2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Tartalom helye 3" descr="A képen szöveg, képernyőkép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63AE1638-707D-4482-C8C4-E9234F9F4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45" y="3919525"/>
            <a:ext cx="4463594" cy="2131366"/>
          </a:xfrm>
          <a:prstGeom prst="rect">
            <a:avLst/>
          </a:prstGeom>
        </p:spPr>
      </p:pic>
      <p:grpSp>
        <p:nvGrpSpPr>
          <p:cNvPr id="26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7478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A9AE05-E560-28B7-AF93-219545481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>
                <a:ea typeface="Source Sans Pro"/>
              </a:rPr>
              <a:t>Késsőbbi fejlesztőségi lehetőségek</a:t>
            </a:r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67F6119-C59E-0163-FA7C-D13731ED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hu-HU">
                <a:ea typeface="Source Sans Pro"/>
              </a:rPr>
              <a:t>Mint késsőbbi fejleszteségi lehetőségeknél lehet érteni, a google bejelentkezési opciót, esetleg profit szintre lesz fejlesztve előfizetői csomag meg jelenése. </a:t>
            </a:r>
            <a:endParaRPr lang="hu-HU" dirty="0">
              <a:ea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356742620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DarkVTI">
  <a:themeElements>
    <a:clrScheme name="Custom 4">
      <a:dk1>
        <a:srgbClr val="FFFFFF"/>
      </a:dk1>
      <a:lt1>
        <a:srgbClr val="000000"/>
      </a:lt1>
      <a:dk2>
        <a:srgbClr val="F3FFF8"/>
      </a:dk2>
      <a:lt2>
        <a:srgbClr val="2D2D2D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DarkVTI" id="{84637DF0-7D2D-4F20-816C-4D6C45F3FAF2}" vid="{0EF594EE-C33F-480F-80E7-D4F74C1C30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15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FunkyShapesDarkVTI</vt:lpstr>
      <vt:lpstr>Info Screen</vt:lpstr>
      <vt:lpstr>Bevezető</vt:lpstr>
      <vt:lpstr>Projekt felépítése</vt:lpstr>
      <vt:lpstr>Felépítése</vt:lpstr>
      <vt:lpstr>Program fejlesztése</vt:lpstr>
      <vt:lpstr>Adatbázis</vt:lpstr>
      <vt:lpstr>PowerPoint-bemutató</vt:lpstr>
      <vt:lpstr>Kezdőlap</vt:lpstr>
      <vt:lpstr>Regisztráció/Bejelentkezés</vt:lpstr>
      <vt:lpstr>Vezérlőpult</vt:lpstr>
      <vt:lpstr>Új üzenetek/Új események</vt:lpstr>
      <vt:lpstr>Felhasználó szerkesztése</vt:lpstr>
      <vt:lpstr>Display entry vagy is kijelző kód</vt:lpstr>
      <vt:lpstr>Diák/Tanári kijelző</vt:lpstr>
      <vt:lpstr>Késsőbbi fejlesztőségi lehetőségek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192</cp:revision>
  <dcterms:created xsi:type="dcterms:W3CDTF">2026-03-19T08:06:14Z</dcterms:created>
  <dcterms:modified xsi:type="dcterms:W3CDTF">2026-03-27T08:00:52Z</dcterms:modified>
</cp:coreProperties>
</file>